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exandria" panose="020B0604020202020204" charset="-78"/>
      <p:regular r:id="rId13"/>
    </p:embeddedFont>
    <p:embeddedFont>
      <p:font typeface="Nobile" panose="020B0604020202020204" charset="0"/>
      <p:regular r:id="rId14"/>
    </p:embeddedFont>
    <p:embeddedFont>
      <p:font typeface="Nobile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01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705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slow">
    <p:push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2DD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73255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Notebook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606675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One Campus. One Platform.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661475" y="452050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NITER's Unified Digital Campus Platform — NITER Innovate Hackathon 2026 </a:t>
            </a:r>
            <a:r>
              <a:rPr lang="en-US" sz="145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"Be The Solution"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175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Problem: Fragmented Campus Information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861072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05643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Academic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465116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Information scattered across sources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861072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305643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Notices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465116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Important updates difficult to track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861072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305643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Transport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465116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Uncertain schedules and routes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454327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649688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Communication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5058370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Split across multiple platforms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454327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4649688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Services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5058370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unified digital experience</a:t>
            </a:r>
            <a:endParaRPr lang="en-US" sz="14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2248198"/>
            <a:ext cx="1388730" cy="287139"/>
          </a:xfrm>
          <a:prstGeom prst="roundRect">
            <a:avLst>
              <a:gd name="adj" fmla="val 22118"/>
            </a:avLst>
          </a:prstGeom>
          <a:solidFill>
            <a:srgbClr val="D2DDF9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2304852"/>
            <a:ext cx="177150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CORE PROBLEM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2610941"/>
            <a:ext cx="6903269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Students have information — but it's scattered across too many places.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4633201" y="3744913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official hackathon identifies similar pain points across </a:t>
            </a: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Academic, Transport, Student Welfare, Health,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Logistics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Notebook solves this by unifying everything into one platform.</a:t>
            </a:r>
            <a:endParaRPr lang="en-US" sz="145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965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Introducing Notebook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195685"/>
            <a:ext cx="1086874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Notebook is a unified digital campus platform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that brings NITER's entire student experience into one ecosystem. Instead of relying on multiple disconnected platforms, students can use Notebook as a central place to: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373" y="1683147"/>
            <a:ext cx="203691" cy="2036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2888" y="1678980"/>
            <a:ext cx="1042733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Access campus information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373" y="2290068"/>
            <a:ext cx="203691" cy="2036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2888" y="2285901"/>
            <a:ext cx="1042733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Connect with the student community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373" y="2896989"/>
            <a:ext cx="203691" cy="2036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02888" y="2892822"/>
            <a:ext cx="1042733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Share and interact with content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373" y="3503910"/>
            <a:ext cx="203691" cy="2036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02888" y="3499743"/>
            <a:ext cx="1042733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Manage their profile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373" y="4110831"/>
            <a:ext cx="203691" cy="20369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02888" y="4106664"/>
            <a:ext cx="1042733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Control profile visibility and privacy</a:t>
            </a:r>
            <a:endParaRPr lang="en-US" sz="1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373" y="4717752"/>
            <a:ext cx="203691" cy="20369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02888" y="4713585"/>
            <a:ext cx="1042733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Access academic resources</a:t>
            </a:r>
            <a:endParaRPr lang="en-US" sz="13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373" y="5324673"/>
            <a:ext cx="203691" cy="20369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02888" y="5320506"/>
            <a:ext cx="1042733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Discover campus services</a:t>
            </a:r>
            <a:endParaRPr lang="en-US" sz="1300" dirty="0"/>
          </a:p>
        </p:txBody>
      </p:sp>
      <p:sp>
        <p:nvSpPr>
          <p:cNvPr id="18" name="Shape 9"/>
          <p:cNvSpPr/>
          <p:nvPr/>
        </p:nvSpPr>
        <p:spPr>
          <a:xfrm>
            <a:off x="661475" y="5842000"/>
            <a:ext cx="10868745" cy="440035"/>
          </a:xfrm>
          <a:prstGeom prst="roundRect">
            <a:avLst>
              <a:gd name="adj" fmla="val 12967"/>
            </a:avLst>
          </a:prstGeom>
          <a:solidFill>
            <a:srgbClr val="D2DDF9"/>
          </a:solidFill>
          <a:ln/>
        </p:spPr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02" y="5981700"/>
            <a:ext cx="169759" cy="13583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102888" y="5973564"/>
            <a:ext cx="1090109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One platform instead of scattered digital experiences.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9558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 Student's Digital Campus Journey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209278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Notebook guides students through five stages of their digital campus experience.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97302" y="1709539"/>
            <a:ext cx="135827" cy="611287"/>
          </a:xfrm>
          <a:prstGeom prst="roundRect">
            <a:avLst>
              <a:gd name="adj" fmla="val 42009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6585" y="1641673"/>
            <a:ext cx="1036363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Discover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6585" y="1912541"/>
            <a:ext cx="10363635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Find campus information and updates in one place.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0993" y="2622252"/>
            <a:ext cx="135827" cy="611287"/>
          </a:xfrm>
          <a:prstGeom prst="roundRect">
            <a:avLst>
              <a:gd name="adj" fmla="val 42009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0276" y="2554387"/>
            <a:ext cx="1015994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Connect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0276" y="2825254"/>
            <a:ext cx="1015994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Interact with classmates and the wider NITER community.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04783" y="3534966"/>
            <a:ext cx="135827" cy="611287"/>
          </a:xfrm>
          <a:prstGeom prst="roundRect">
            <a:avLst>
              <a:gd name="adj" fmla="val 42009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4066" y="3467100"/>
            <a:ext cx="995615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Organize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74066" y="3737967"/>
            <a:ext cx="995615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 and save important information.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408573" y="4447679"/>
            <a:ext cx="135827" cy="611287"/>
          </a:xfrm>
          <a:prstGeom prst="roundRect">
            <a:avLst>
              <a:gd name="adj" fmla="val 42009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77856" y="4379813"/>
            <a:ext cx="975236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Control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77856" y="4650680"/>
            <a:ext cx="975236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Manage profile visibility and privacy.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204783" y="5360392"/>
            <a:ext cx="135827" cy="611287"/>
          </a:xfrm>
          <a:prstGeom prst="roundRect">
            <a:avLst>
              <a:gd name="adj" fmla="val 42009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74066" y="5292527"/>
            <a:ext cx="995615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Expand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74066" y="5563394"/>
            <a:ext cx="995615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 additional campus services as the platform grows.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1475" y="6081613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Designed to grow with NITER.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1475" y="1620441"/>
            <a:ext cx="407481" cy="407491"/>
          </a:xfrm>
          <a:prstGeom prst="ellipse">
            <a:avLst/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370" y="1722338"/>
            <a:ext cx="203691" cy="20369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65166" y="2533154"/>
            <a:ext cx="407481" cy="407491"/>
          </a:xfrm>
          <a:prstGeom prst="ellipse">
            <a:avLst/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061" y="2635052"/>
            <a:ext cx="203691" cy="203696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1068956" y="3445867"/>
            <a:ext cx="407481" cy="407491"/>
          </a:xfrm>
          <a:prstGeom prst="ellipse">
            <a:avLst/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851" y="3547765"/>
            <a:ext cx="203691" cy="203696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272746" y="4358580"/>
            <a:ext cx="407481" cy="407491"/>
          </a:xfrm>
          <a:prstGeom prst="ellipse">
            <a:avLst/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74641" y="4460478"/>
            <a:ext cx="203691" cy="20369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068956" y="5271294"/>
            <a:ext cx="407481" cy="407491"/>
          </a:xfrm>
          <a:prstGeom prst="ellipse">
            <a:avLst/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851" y="5373191"/>
            <a:ext cx="203691" cy="20369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3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Features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0203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Community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and interact with posts, user profiles, saved posts, and media sharing.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200203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Academic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Centralized access to academic resources and campus information.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Privacy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User-controlled profile visibility and privacy settings.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Platform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Responsive interface, modular architecture, and cloud-based media management.</a:t>
            </a:r>
            <a:endParaRPr lang="en-US" sz="145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752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Technology Stack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61475" y="1450975"/>
            <a:ext cx="2223933" cy="1198662"/>
          </a:xfrm>
          <a:prstGeom prst="roundRect">
            <a:avLst>
              <a:gd name="adj" fmla="val 5485"/>
            </a:avLst>
          </a:prstGeom>
          <a:solidFill>
            <a:srgbClr val="F9F9FF"/>
          </a:solidFill>
          <a:ln w="19050">
            <a:solidFill>
              <a:srgbClr val="B8C3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6988" y="1626493"/>
            <a:ext cx="187290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6988" y="2000647"/>
            <a:ext cx="187290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HTML5 • CSS3 • JavaScript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4984" y="1450975"/>
            <a:ext cx="2223933" cy="1198662"/>
          </a:xfrm>
          <a:prstGeom prst="roundRect">
            <a:avLst>
              <a:gd name="adj" fmla="val 5485"/>
            </a:avLst>
          </a:prstGeom>
          <a:solidFill>
            <a:srgbClr val="F9F9FF"/>
          </a:solidFill>
          <a:ln w="19050">
            <a:solidFill>
              <a:srgbClr val="B8C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90498" y="1626493"/>
            <a:ext cx="1872905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Backend &amp; Database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90498" y="2245221"/>
            <a:ext cx="187290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Supabase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68493" y="1450975"/>
            <a:ext cx="2224032" cy="1198662"/>
          </a:xfrm>
          <a:prstGeom prst="roundRect">
            <a:avLst>
              <a:gd name="adj" fmla="val 5485"/>
            </a:avLst>
          </a:prstGeom>
          <a:solidFill>
            <a:srgbClr val="F9F9FF"/>
          </a:solidFill>
          <a:ln w="19050">
            <a:solidFill>
              <a:srgbClr val="B8C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44007" y="1626493"/>
            <a:ext cx="187300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44007" y="2000647"/>
            <a:ext cx="187300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Supabase Auth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1475" y="2779216"/>
            <a:ext cx="2223933" cy="954088"/>
          </a:xfrm>
          <a:prstGeom prst="roundRect">
            <a:avLst>
              <a:gd name="adj" fmla="val 6891"/>
            </a:avLst>
          </a:prstGeom>
          <a:solidFill>
            <a:srgbClr val="F9F9FF"/>
          </a:solidFill>
          <a:ln w="19050">
            <a:solidFill>
              <a:srgbClr val="B8C3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988" y="2954734"/>
            <a:ext cx="187290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Media Storage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988" y="3328888"/>
            <a:ext cx="187290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Cloudinary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14984" y="2779216"/>
            <a:ext cx="2223933" cy="954088"/>
          </a:xfrm>
          <a:prstGeom prst="roundRect">
            <a:avLst>
              <a:gd name="adj" fmla="val 6891"/>
            </a:avLst>
          </a:prstGeom>
          <a:solidFill>
            <a:srgbClr val="F9F9FF"/>
          </a:solidFill>
          <a:ln w="19050">
            <a:solidFill>
              <a:srgbClr val="B8C3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90498" y="2954734"/>
            <a:ext cx="187290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90498" y="3328888"/>
            <a:ext cx="187290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Netlify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68493" y="2779216"/>
            <a:ext cx="2224032" cy="954088"/>
          </a:xfrm>
          <a:prstGeom prst="roundRect">
            <a:avLst>
              <a:gd name="adj" fmla="val 6891"/>
            </a:avLst>
          </a:prstGeom>
          <a:solidFill>
            <a:srgbClr val="F9F9FF"/>
          </a:solidFill>
          <a:ln w="19050">
            <a:solidFill>
              <a:srgbClr val="B8C3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4007" y="2954734"/>
            <a:ext cx="187300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Version Control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44007" y="3328888"/>
            <a:ext cx="187300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Git • GitHub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1475" y="3862884"/>
            <a:ext cx="6931050" cy="954088"/>
          </a:xfrm>
          <a:prstGeom prst="roundRect">
            <a:avLst>
              <a:gd name="adj" fmla="val 6891"/>
            </a:avLst>
          </a:prstGeom>
          <a:solidFill>
            <a:srgbClr val="F9F9FF"/>
          </a:solidFill>
          <a:ln w="19050">
            <a:solidFill>
              <a:srgbClr val="B8C3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988" y="4038402"/>
            <a:ext cx="6580023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Domain &amp; DNS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988" y="4412555"/>
            <a:ext cx="658002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Cloudflare</a:t>
            </a:r>
            <a:endParaRPr lang="en-US" sz="12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659" y="1356023"/>
            <a:ext cx="3555812" cy="3555901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61475" y="5203428"/>
            <a:ext cx="10868745" cy="1127720"/>
          </a:xfrm>
          <a:prstGeom prst="roundRect">
            <a:avLst>
              <a:gd name="adj" fmla="val 5830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67825" y="5209778"/>
            <a:ext cx="5428023" cy="557510"/>
          </a:xfrm>
          <a:custGeom>
            <a:avLst/>
            <a:gdLst/>
            <a:ahLst/>
            <a:cxnLst/>
            <a:rect l="l" t="t" r="r" b="b"/>
            <a:pathLst>
              <a:path w="5428023" h="557510">
                <a:moveTo>
                  <a:pt x="54786" y="0"/>
                </a:moveTo>
                <a:lnTo>
                  <a:pt x="5428023" y="0"/>
                </a:lnTo>
                <a:lnTo>
                  <a:pt x="5428023" y="557510"/>
                </a:lnTo>
                <a:lnTo>
                  <a:pt x="0" y="557510"/>
                </a:lnTo>
                <a:lnTo>
                  <a:pt x="0" y="54787"/>
                </a:lnTo>
                <a:arcTo wR="54786" hR="54787" stAng="10800000" swAng="5400000"/>
                <a:close/>
              </a:path>
            </a:pathLst>
          </a:custGeom>
          <a:solidFill>
            <a:srgbClr val="D2DDF9"/>
          </a:solidFill>
          <a:ln/>
        </p:spPr>
      </p:sp>
      <p:sp>
        <p:nvSpPr>
          <p:cNvPr id="27" name="Text 24"/>
          <p:cNvSpPr/>
          <p:nvPr/>
        </p:nvSpPr>
        <p:spPr>
          <a:xfrm>
            <a:off x="824289" y="5366246"/>
            <a:ext cx="511509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Modular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095848" y="5209778"/>
            <a:ext cx="5428023" cy="557510"/>
          </a:xfrm>
          <a:custGeom>
            <a:avLst/>
            <a:gdLst/>
            <a:ahLst/>
            <a:cxnLst/>
            <a:rect l="l" t="t" r="r" b="b"/>
            <a:pathLst>
              <a:path w="5428023" h="557510">
                <a:moveTo>
                  <a:pt x="0" y="0"/>
                </a:moveTo>
                <a:lnTo>
                  <a:pt x="5373237" y="0"/>
                </a:lnTo>
                <a:arcTo wR="54786" hR="54787" stAng="16200000" swAng="5400000"/>
                <a:lnTo>
                  <a:pt x="5428023" y="557510"/>
                </a:lnTo>
                <a:lnTo>
                  <a:pt x="0" y="557510"/>
                </a:lnTo>
                <a:lnTo>
                  <a:pt x="0" y="0"/>
                </a:lnTo>
                <a:close/>
              </a:path>
            </a:pathLst>
          </a:custGeom>
          <a:solidFill>
            <a:srgbClr val="D2DDF9"/>
          </a:solidFill>
          <a:ln/>
        </p:spPr>
      </p:sp>
      <p:sp>
        <p:nvSpPr>
          <p:cNvPr id="29" name="Shape 26"/>
          <p:cNvSpPr/>
          <p:nvPr/>
        </p:nvSpPr>
        <p:spPr>
          <a:xfrm>
            <a:off x="6095848" y="5209778"/>
            <a:ext cx="19050" cy="557510"/>
          </a:xfrm>
          <a:prstGeom prst="roundRect">
            <a:avLst>
              <a:gd name="adj" fmla="val 49999"/>
            </a:avLst>
          </a:prstGeom>
          <a:solidFill>
            <a:srgbClr val="B8C3DF"/>
          </a:solidFill>
          <a:ln/>
        </p:spPr>
      </p:sp>
      <p:sp>
        <p:nvSpPr>
          <p:cNvPr id="30" name="Text 27"/>
          <p:cNvSpPr/>
          <p:nvPr/>
        </p:nvSpPr>
        <p:spPr>
          <a:xfrm>
            <a:off x="6252312" y="5366246"/>
            <a:ext cx="511509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Scalable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67825" y="5767288"/>
            <a:ext cx="5428023" cy="557510"/>
          </a:xfrm>
          <a:custGeom>
            <a:avLst/>
            <a:gdLst/>
            <a:ahLst/>
            <a:cxnLst/>
            <a:rect l="l" t="t" r="r" b="b"/>
            <a:pathLst>
              <a:path w="5428023" h="557510">
                <a:moveTo>
                  <a:pt x="0" y="0"/>
                </a:moveTo>
                <a:lnTo>
                  <a:pt x="5428023" y="0"/>
                </a:lnTo>
                <a:lnTo>
                  <a:pt x="5428023" y="557510"/>
                </a:lnTo>
                <a:lnTo>
                  <a:pt x="54786" y="557510"/>
                </a:lnTo>
                <a:arcTo wR="54786" hR="54787" stAng="5400000" swAng="5400000"/>
                <a:lnTo>
                  <a:pt x="0" y="0"/>
                </a:lnTo>
                <a:close/>
              </a:path>
            </a:pathLst>
          </a:custGeom>
          <a:solidFill>
            <a:srgbClr val="D2DDF9"/>
          </a:solidFill>
          <a:ln/>
        </p:spPr>
      </p:sp>
      <p:sp>
        <p:nvSpPr>
          <p:cNvPr id="32" name="Shape 29"/>
          <p:cNvSpPr/>
          <p:nvPr/>
        </p:nvSpPr>
        <p:spPr>
          <a:xfrm>
            <a:off x="667825" y="5767288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B8C3DF"/>
          </a:solidFill>
          <a:ln/>
        </p:spPr>
      </p:sp>
      <p:sp>
        <p:nvSpPr>
          <p:cNvPr id="33" name="Text 30"/>
          <p:cNvSpPr/>
          <p:nvPr/>
        </p:nvSpPr>
        <p:spPr>
          <a:xfrm>
            <a:off x="824289" y="5923756"/>
            <a:ext cx="511509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Cloud-Based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095848" y="5767288"/>
            <a:ext cx="5428023" cy="557510"/>
          </a:xfrm>
          <a:custGeom>
            <a:avLst/>
            <a:gdLst/>
            <a:ahLst/>
            <a:cxnLst/>
            <a:rect l="l" t="t" r="r" b="b"/>
            <a:pathLst>
              <a:path w="5428023" h="557510">
                <a:moveTo>
                  <a:pt x="0" y="0"/>
                </a:moveTo>
                <a:lnTo>
                  <a:pt x="5428023" y="0"/>
                </a:lnTo>
                <a:lnTo>
                  <a:pt x="5428023" y="502723"/>
                </a:lnTo>
                <a:arcTo wR="54786" hR="54787" stAng="0" swAng="5400000"/>
                <a:lnTo>
                  <a:pt x="0" y="557510"/>
                </a:lnTo>
                <a:lnTo>
                  <a:pt x="0" y="0"/>
                </a:lnTo>
                <a:close/>
              </a:path>
            </a:pathLst>
          </a:custGeom>
          <a:solidFill>
            <a:srgbClr val="D2DDF9"/>
          </a:solidFill>
          <a:ln/>
        </p:spPr>
      </p:sp>
      <p:sp>
        <p:nvSpPr>
          <p:cNvPr id="35" name="Shape 32"/>
          <p:cNvSpPr/>
          <p:nvPr/>
        </p:nvSpPr>
        <p:spPr>
          <a:xfrm>
            <a:off x="6095848" y="5767288"/>
            <a:ext cx="19050" cy="557510"/>
          </a:xfrm>
          <a:prstGeom prst="roundRect">
            <a:avLst>
              <a:gd name="adj" fmla="val 49999"/>
            </a:avLst>
          </a:prstGeom>
          <a:solidFill>
            <a:srgbClr val="B8C3DF"/>
          </a:solidFill>
          <a:ln/>
        </p:spPr>
      </p:sp>
      <p:sp>
        <p:nvSpPr>
          <p:cNvPr id="36" name="Shape 33"/>
          <p:cNvSpPr/>
          <p:nvPr/>
        </p:nvSpPr>
        <p:spPr>
          <a:xfrm>
            <a:off x="6095848" y="5767288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B8C3DF"/>
          </a:solidFill>
          <a:ln/>
        </p:spPr>
      </p:sp>
      <p:sp>
        <p:nvSpPr>
          <p:cNvPr id="37" name="Text 34"/>
          <p:cNvSpPr/>
          <p:nvPr/>
        </p:nvSpPr>
        <p:spPr>
          <a:xfrm>
            <a:off x="6252312" y="5923756"/>
            <a:ext cx="511509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Responsive</a:t>
            </a:r>
            <a:endParaRPr lang="en-US" sz="15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Future Impact: From Prototype to Ecosystem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Notebook can progressively integrate the following campus services: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640" y="2936352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module addresses a key pain point identified by the hackathon, building toward a fully unified digital campus experience.</a:t>
            </a:r>
            <a:endParaRPr lang="en-US" sz="24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2DD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76569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Long-Term Vision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944936" y="2852440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single digital ecosystem connecting students, faculty, administration, and campus services.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2639814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1B54DA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3882529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hackathon emphasizes solutions that are </a:t>
            </a: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practical, usable, and scalable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real deployment at NITER. Notebook is designed to grow from a student-facing platform into a comprehensive campus ecosystem.</a:t>
            </a:r>
            <a:endParaRPr lang="en-US" sz="145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2DD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087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Notebook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182912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One Campus. One Platform.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661475" y="409674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don't need more places to look. </a:t>
            </a: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We need one place that connects everything.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4961434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404155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524668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Thank You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NITER Innovate Hackathon 2026 </a:t>
            </a:r>
            <a:r>
              <a:rPr lang="en-US" sz="145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"Be The Solution"</a:t>
            </a:r>
            <a:endParaRPr lang="en-US" sz="145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451</Words>
  <Application>Microsoft Office PowerPoint</Application>
  <PresentationFormat>Widescreen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Nobile</vt:lpstr>
      <vt:lpstr>Alexandria</vt:lpstr>
      <vt:lpstr>Nobile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syarabi570@gmail.com</cp:lastModifiedBy>
  <cp:revision>2</cp:revision>
  <dcterms:created xsi:type="dcterms:W3CDTF">2026-08-25T05:31:25Z</dcterms:created>
  <dcterms:modified xsi:type="dcterms:W3CDTF">2026-08-25T06:15:56Z</dcterms:modified>
</cp:coreProperties>
</file>